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70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B3122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7A000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BOT-LIKE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CHANNELS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 Anomaly Detection Approach Using Autoencoders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64008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Presentation  |  Exploratory Data Analysis &amp; Deep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u="sng" dirty="0"/>
          </a:p>
        </p:txBody>
      </p:sp>
      <p:sp>
        <p:nvSpPr>
          <p:cNvPr id="3" name="Text 1"/>
          <p:cNvSpPr/>
          <p:nvPr/>
        </p:nvSpPr>
        <p:spPr>
          <a:xfrm>
            <a:off x="533400" y="1856232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subscriber or view on YouTube is genuine. This project builds an unsupervised model to flag channels whose statistics look artificially inflated or inconsistent — potential bot or fraud-driven activity.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0" y="1234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095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9560" y="1490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15,830 YouTube channels and resolve missing / invalid values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4231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956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09560" y="26791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ratios such as views per subscriber and uploads per year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36118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Normal Behavior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09560" y="38679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Autoencoder to learn what a typical channel looks like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80060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09560" y="4754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09560" y="50566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reconstruction error to surface likely bot-driven channels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15,830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417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0624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63840" y="1280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F6F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417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channel_name, channel_id, category, country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view_count, subscriber_count, video_count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videos_last_30_days, views_last_30_days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 → engineered into channel_age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Gaps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defaultLanguage — 90% missing (dropped signal, kept as category)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— ~1,800 missing, filled as “Not Provided”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category — minor gaps, filled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custom_url, last_10_video_ids — dropped (not useful)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1" y="2240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created_date and derived channel_age (years)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description, country, category, defaultLanguage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unusable columns: custom_url, last_10_video_ids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0 residual nulls before feature engineering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80760" y="1188720"/>
            <a:ext cx="0" cy="48463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views_per_subscriber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7960" y="222885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view_count / subscriber_count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views_per_video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7960" y="32232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view_count / video_count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6355080" y="35661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C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1833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video_per_year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video_count / channel_age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Skewed Distributions</a:t>
            </a:r>
            <a:endParaRPr lang="en-US" sz="3000" dirty="0"/>
          </a:p>
        </p:txBody>
      </p:sp>
      <p:pic>
        <p:nvPicPr>
          <p:cNvPr id="3" name="Image 0" descr="cell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83733"/>
            <a:ext cx="3931920" cy="2592155"/>
          </a:xfrm>
          <a:prstGeom prst="rect">
            <a:avLst/>
          </a:prstGeom>
        </p:spPr>
      </p:pic>
      <p:pic>
        <p:nvPicPr>
          <p:cNvPr id="4" name="Image 1" descr="cell3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59" y="1083733"/>
            <a:ext cx="3931921" cy="2592155"/>
          </a:xfrm>
          <a:prstGeom prst="rect">
            <a:avLst/>
          </a:prstGeom>
        </p:spPr>
      </p:pic>
      <p:pic>
        <p:nvPicPr>
          <p:cNvPr id="5" name="Image 2" descr="cell3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9" y="1083733"/>
            <a:ext cx="3931921" cy="259215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3840480"/>
            <a:ext cx="11292840" cy="2148840"/>
          </a:xfrm>
          <a:prstGeom prst="roundRect">
            <a:avLst>
              <a:gd name="adj" fmla="val 2553"/>
            </a:avLst>
          </a:prstGeom>
          <a:solidFill>
            <a:srgbClr val="FCF6F5"/>
          </a:solidFill>
          <a:ln/>
        </p:spPr>
      </p:sp>
      <p:sp>
        <p:nvSpPr>
          <p:cNvPr id="7" name="Text 2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731520" y="4370832"/>
            <a:ext cx="10744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numerical feature — view_count, subscriber_count, video_count, and derived ratios — is heavily right-skewed. Most channels cluster at low values, with a long tail of a few extremely large channels (e.g. Blackpink, MrBeast). Boxplots confirm this: a narrow interquartile range with many extreme high-value outliers, which are genuine, not data errors.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Relationships</a:t>
            </a:r>
            <a:endParaRPr lang="en-US" sz="3000" dirty="0"/>
          </a:p>
        </p:txBody>
      </p:sp>
      <p:pic>
        <p:nvPicPr>
          <p:cNvPr id="3" name="Image 0" descr="cell3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892040" cy="4572000"/>
          </a:xfrm>
          <a:prstGeom prst="rect">
            <a:avLst/>
          </a:prstGeom>
        </p:spPr>
      </p:pic>
      <p:pic>
        <p:nvPicPr>
          <p:cNvPr id="4" name="Image 1" descr="cell3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340" y="1188720"/>
            <a:ext cx="5470939" cy="3434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577840" y="4434840"/>
            <a:ext cx="6126480" cy="1371600"/>
          </a:xfrm>
          <a:prstGeom prst="roundRect">
            <a:avLst>
              <a:gd name="adj" fmla="val 4000"/>
            </a:avLst>
          </a:prstGeom>
          <a:solidFill>
            <a:srgbClr val="FCF6F5"/>
          </a:solidFill>
          <a:ln/>
        </p:spPr>
      </p:sp>
      <p:sp>
        <p:nvSpPr>
          <p:cNvPr id="6" name="Text 2"/>
          <p:cNvSpPr/>
          <p:nvPr/>
        </p:nvSpPr>
        <p:spPr>
          <a:xfrm>
            <a:off x="5897880" y="4688840"/>
            <a:ext cx="5715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count and view count are strongly positively correlated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count has only a weak link to subscribers and total views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views_per_subscriber carries several extreme outliers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Dominates the Platform?</a:t>
            </a:r>
            <a:endParaRPr lang="en-US" sz="3000" dirty="0"/>
          </a:p>
        </p:txBody>
      </p:sp>
      <p:pic>
        <p:nvPicPr>
          <p:cNvPr id="3" name="Image 0" descr="cell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577840" cy="2578608"/>
          </a:xfrm>
          <a:prstGeom prst="rect">
            <a:avLst/>
          </a:prstGeom>
        </p:spPr>
      </p:pic>
      <p:pic>
        <p:nvPicPr>
          <p:cNvPr id="4" name="Image 1" descr="cell4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5440680" cy="2578608"/>
          </a:xfrm>
          <a:prstGeom prst="rect">
            <a:avLst/>
          </a:prstGeom>
        </p:spPr>
      </p:pic>
      <p:pic>
        <p:nvPicPr>
          <p:cNvPr id="5" name="Image 2" descr="cell4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77640"/>
            <a:ext cx="5577840" cy="2578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263640" y="3977640"/>
            <a:ext cx="5440680" cy="2578608"/>
          </a:xfrm>
          <a:prstGeom prst="roundRect">
            <a:avLst>
              <a:gd name="adj" fmla="val 2128"/>
            </a:avLst>
          </a:prstGeom>
          <a:solidFill>
            <a:srgbClr val="FCF6F5"/>
          </a:solidFill>
          <a:ln/>
        </p:spPr>
      </p:sp>
      <p:sp>
        <p:nvSpPr>
          <p:cNvPr id="7" name="Text 2"/>
          <p:cNvSpPr/>
          <p:nvPr/>
        </p:nvSpPr>
        <p:spPr>
          <a:xfrm>
            <a:off x="653796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537960" y="4498848"/>
            <a:ext cx="49377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mega-channels dominate subscriber and view counts, the US and India lead by channel volume, and Entertainment / Music-style categories are most common — the same long-tail pattern seen in the distributions.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Skew: Log Transformation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log1p transform was applied to the eight most skewed features before scaling, sharply reducing skewness: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54517"/>
              </p:ext>
            </p:extLst>
          </p:nvPr>
        </p:nvGraphicFramePr>
        <p:xfrm>
          <a:off x="548640" y="1828800"/>
          <a:ext cx="5486400" cy="1600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(skew)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log1p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view_count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subscriber_count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3683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pulls extreme high values inward, producing distributions far more suitable for standardization and neural-network training.</a:t>
            </a:r>
            <a:endParaRPr lang="en-US" sz="2000" dirty="0"/>
          </a:p>
        </p:txBody>
      </p:sp>
      <p:pic>
        <p:nvPicPr>
          <p:cNvPr id="6" name="Image 0" descr="cell62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39496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230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after log1p (example feature)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Autoencoder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Autoencoder compresses each channel’s 8 scaled features into a 2-dimensional bottleneck, then reconstructs them. Channels the network struggles to reconstruct are the anomalies.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737360" cy="2468880"/>
          </a:xfrm>
          <a:prstGeom prst="roundRect">
            <a:avLst>
              <a:gd name="adj" fmla="val 4211"/>
            </a:avLst>
          </a:prstGeom>
          <a:solidFill>
            <a:srgbClr val="FCF6F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3291840"/>
            <a:ext cx="5257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48940" y="2392680"/>
            <a:ext cx="1737360" cy="1798320"/>
          </a:xfrm>
          <a:prstGeom prst="roundRect">
            <a:avLst>
              <a:gd name="adj" fmla="val 4211"/>
            </a:avLst>
          </a:prstGeom>
          <a:solidFill>
            <a:srgbClr val="F0C4C9"/>
          </a:solidFill>
          <a:ln/>
        </p:spPr>
      </p:sp>
      <p:sp>
        <p:nvSpPr>
          <p:cNvPr id="9" name="Text 7"/>
          <p:cNvSpPr/>
          <p:nvPr/>
        </p:nvSpPr>
        <p:spPr>
          <a:xfrm>
            <a:off x="2948940" y="2392680"/>
            <a:ext cx="1737360" cy="179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6606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6300" y="3291840"/>
            <a:ext cx="5257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727960"/>
            <a:ext cx="1737360" cy="1127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727960"/>
            <a:ext cx="1737360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3291840"/>
            <a:ext cx="5257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75220" y="2392680"/>
            <a:ext cx="1737360" cy="1798320"/>
          </a:xfrm>
          <a:prstGeom prst="roundRect">
            <a:avLst>
              <a:gd name="adj" fmla="val 4211"/>
            </a:avLst>
          </a:prstGeom>
          <a:solidFill>
            <a:srgbClr val="F0C4C9"/>
          </a:solidFill>
          <a:ln/>
        </p:spPr>
      </p:sp>
      <p:sp>
        <p:nvSpPr>
          <p:cNvPr id="17" name="Text 15"/>
          <p:cNvSpPr/>
          <p:nvPr/>
        </p:nvSpPr>
        <p:spPr>
          <a:xfrm>
            <a:off x="7475220" y="2392680"/>
            <a:ext cx="1737360" cy="179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9234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12580" y="3291840"/>
            <a:ext cx="5257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38360" y="2057400"/>
            <a:ext cx="1737360" cy="2468880"/>
          </a:xfrm>
          <a:prstGeom prst="roundRect">
            <a:avLst>
              <a:gd name="adj" fmla="val 4211"/>
            </a:avLst>
          </a:prstGeom>
          <a:solidFill>
            <a:srgbClr val="FCF6F5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20574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5548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0749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activation: ReLU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activation: Linear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  •  Optimizer: Adam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trainable params: 241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Autoencoder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635240" y="141732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CF6F5"/>
          </a:solidFill>
          <a:ln/>
        </p:spPr>
      </p:sp>
      <p:sp>
        <p:nvSpPr>
          <p:cNvPr id="5" name="Text 2"/>
          <p:cNvSpPr/>
          <p:nvPr/>
        </p:nvSpPr>
        <p:spPr>
          <a:xfrm>
            <a:off x="78181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394 / 32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8181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/ Batch size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35240" y="256032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CF6F5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EarlyStopping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5, on val_loss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35240" y="379476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loss dropped quickly and converged together — no overfitting, no gap between the two curves. EarlyStopping halted training once validation loss stopped improving, restoring the best-performing weights automatically.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A9D803CB-35D2-BFC5-EB6B-0F7752C66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46335"/>
            <a:ext cx="6858000" cy="37252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the Anomalies</a:t>
            </a:r>
            <a:endParaRPr lang="en-US" sz="3000" dirty="0"/>
          </a:p>
        </p:txBody>
      </p:sp>
      <p:pic>
        <p:nvPicPr>
          <p:cNvPr id="3" name="Image 0" descr="cell7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623560" cy="3063240"/>
          </a:xfrm>
          <a:prstGeom prst="rect">
            <a:avLst/>
          </a:prstGeom>
        </p:spPr>
      </p:pic>
      <p:pic>
        <p:nvPicPr>
          <p:cNvPr id="4" name="Image 1" descr="cell7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88720"/>
            <a:ext cx="4617720" cy="3794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434840"/>
            <a:ext cx="5623560" cy="1737360"/>
          </a:xfrm>
          <a:prstGeom prst="roundRect">
            <a:avLst>
              <a:gd name="adj" fmla="val 3684"/>
            </a:avLst>
          </a:prstGeom>
          <a:solidFill>
            <a:srgbClr val="FCF6F5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95th percentile threshold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85800" y="4892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= 0.428. Channels above this line reconstruct poorly — their feature patterns don't match the norm.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63640" y="5074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14,968</a:t>
            </a:r>
            <a:endParaRPr lang="en-US" sz="3000" dirty="0"/>
          </a:p>
          <a:p>
            <a:pPr marL="0" indent="0" algn="l">
              <a:buNone/>
            </a:pPr>
            <a:r>
              <a:rPr lang="en-US" dirty="0">
                <a:solidFill>
                  <a:srgbClr val="6E6E6E"/>
                </a:solidFill>
              </a:rPr>
              <a:t>Normal channels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641080" y="5074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788</a:t>
            </a:r>
            <a:endParaRPr lang="en-US" sz="3000" dirty="0"/>
          </a:p>
          <a:p>
            <a:pPr marL="0" indent="0" algn="l">
              <a:buNone/>
            </a:pPr>
            <a:r>
              <a:rPr lang="en-US" dirty="0">
                <a:solidFill>
                  <a:srgbClr val="6E6E6E"/>
                </a:solidFill>
              </a:rPr>
              <a:t>Flagged as bot-like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97680"/>
            <a:ext cx="3657600" cy="3657600"/>
          </a:xfrm>
          <a:prstGeom prst="ellipse">
            <a:avLst/>
          </a:prstGeom>
          <a:solidFill>
            <a:srgbClr val="B312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" cy="914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5331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messy — and skewed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log transforms, and outlier handling shaped every downstream step.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9728" cy="914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“normal” without labels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bot/human labels existed; reconstruction error alone reveals unusual channels.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09728" cy="914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channels look anomalous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 of 15,830 channels reconstruct poorly — candidates for deeper fraud review.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9728" cy="9144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0799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confirms visual separation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channels cluster distinctly apart from the normal population in 2D.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789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Vasundhara Singh</cp:lastModifiedBy>
  <cp:revision>2</cp:revision>
  <dcterms:created xsi:type="dcterms:W3CDTF">2026-07-29T14:47:16Z</dcterms:created>
  <dcterms:modified xsi:type="dcterms:W3CDTF">2026-08-12T08:53:46Z</dcterms:modified>
</cp:coreProperties>
</file>